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784848"/>
          </a:xfrm>
          <a:prstGeom prst="rect">
            <a:avLst/>
          </a:prstGeom>
          <a:solidFill>
            <a:srgbClr val="153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46304"/>
            <a:ext cx="9509760" cy="384048"/>
          </a:xfrm>
          <a:prstGeom prst="rect">
            <a:avLst/>
          </a:prstGeom>
          <a:noFill/>
        </p:spPr>
        <p:txBody>
          <a:bodyPr wrap="square" lIns="54864" rIns="54864" tIns="18288" bIns="18288" anchor="b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asc-devkit 通信编程能力架构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3776"/>
            <a:ext cx="969264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从算子开发套件到多引擎硬件：一层仓、两套编程能力、统一 HCOMM 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83080" cy="475488"/>
          </a:xfrm>
          <a:prstGeom prst="roundRect">
            <a:avLst>
              <a:gd name="adj" fmla="val 20000"/>
            </a:avLst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01168"/>
            <a:ext cx="1783080" cy="47548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CANN · Ascend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841248"/>
            <a:ext cx="11612880" cy="404164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 w="22225">
            <a:solidFill>
              <a:srgbClr val="15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" y="841248"/>
            <a:ext cx="11612880" cy="384048"/>
          </a:xfrm>
          <a:prstGeom prst="roundRect">
            <a:avLst>
              <a:gd name="adj" fmla="val 4000"/>
            </a:avLst>
          </a:prstGeom>
          <a:solidFill>
            <a:srgbClr val="153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1115568"/>
            <a:ext cx="11612880" cy="109728"/>
          </a:xfrm>
          <a:prstGeom prst="rect">
            <a:avLst/>
          </a:prstGeom>
          <a:solidFill>
            <a:srgbClr val="153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841248"/>
            <a:ext cx="7863840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asc-devkit    昇腾算子开发套件 · 包含通信仓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841248"/>
            <a:ext cx="3108960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L1  开发套件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53312"/>
            <a:ext cx="11283696" cy="3383280"/>
          </a:xfrm>
          <a:prstGeom prst="roundRect">
            <a:avLst>
              <a:gd name="adj" fmla="val 4000"/>
            </a:avLst>
          </a:prstGeom>
          <a:solidFill>
            <a:srgbClr val="ECF5FF"/>
          </a:solidFill>
          <a:ln w="190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53312"/>
            <a:ext cx="11283696" cy="347472"/>
          </a:xfrm>
          <a:prstGeom prst="roundRect">
            <a:avLst>
              <a:gd name="adj" fmla="val 4000"/>
            </a:avLst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591056"/>
            <a:ext cx="11283696" cy="109728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353312"/>
            <a:ext cx="8046720" cy="34747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asc-comm 仓    通信场景开源仓 · 提供 MC² / Ain 编程能力，并接入 HCOMM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353312"/>
            <a:ext cx="2926080" cy="34747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L2  通信仓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65376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B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1938528"/>
            <a:ext cx="73152" cy="1152144"/>
          </a:xfrm>
          <a:prstGeom prst="rect">
            <a:avLst/>
          </a:prstGeom>
          <a:solidFill>
            <a:srgbClr val="0B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920240"/>
            <a:ext cx="4892040" cy="34747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8A7A"/>
                </a:solidFill>
                <a:latin typeface="Calibri"/>
                <a:ea typeface="Microsoft YaHei"/>
                <a:cs typeface="Microsoft YaHei"/>
              </a:rPr>
              <a:t>MC²    通算融合编程能力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249424"/>
            <a:ext cx="4892040" cy="8229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Matrix Computation &amp; Communication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计算与通信流水叠加，支撑 AllReduce / AllGather /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ReduceScatter 等集合通信与矩阵计算融合算子。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865376"/>
            <a:ext cx="53583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B4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938528"/>
            <a:ext cx="73152" cy="1152144"/>
          </a:xfrm>
          <a:prstGeom prst="rect">
            <a:avLst/>
          </a:prstGeom>
          <a:solidFill>
            <a:srgbClr val="5B4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20240"/>
            <a:ext cx="4937760" cy="34747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B4BD5"/>
                </a:solidFill>
                <a:latin typeface="Calibri"/>
                <a:ea typeface="Microsoft YaHei"/>
                <a:cs typeface="Microsoft YaHei"/>
              </a:rPr>
              <a:t>Ain    单边通信编程能力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249424"/>
            <a:ext cx="4937760" cy="8229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One-sided Put / Get / Signal / Wait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对称窗口上发起单边读写与同步，Flush / Wait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管理完成语义，面向 MoE / Pipeline 低时延路径。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63824"/>
            <a:ext cx="10863072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提供编程能力  →  访问统一接口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38144"/>
            <a:ext cx="10881360" cy="1115568"/>
          </a:xfrm>
          <a:prstGeom prst="roundRect">
            <a:avLst>
              <a:gd name="adj" fmla="val 8000"/>
            </a:avLst>
          </a:prstGeom>
          <a:solidFill>
            <a:srgbClr val="FFF6EC"/>
          </a:solidFill>
          <a:ln w="25400">
            <a:solidFill>
              <a:srgbClr val="C45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493008"/>
            <a:ext cx="10515600" cy="34747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C45C12"/>
                </a:solidFill>
                <a:latin typeface="Calibri"/>
                <a:ea typeface="Microsoft YaHei"/>
                <a:cs typeface="Microsoft YaHei"/>
              </a:rPr>
              <a:t>HCOMM    统一编程接口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822191"/>
            <a:ext cx="10515600" cy="62179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一套 API 屏蔽引擎差异：控制面（通信域 / 通道 / 资源） + 数据面（Write / Read / Notify / Reduce）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asc-comm 通过 HCOMM 访问下层通信引擎与硬件加速单元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4572000"/>
            <a:ext cx="0" cy="420624"/>
          </a:xfrm>
          <a:prstGeom prst="line">
            <a:avLst/>
          </a:prstGeom>
          <a:ln w="25400">
            <a:solidFill>
              <a:srgbClr val="C45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" y="4956048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访问通信引擎  /  硬件加速单元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" y="5230368"/>
            <a:ext cx="2752344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2608" y="5230368"/>
            <a:ext cx="2752344" cy="91440"/>
          </a:xfrm>
          <a:prstGeom prst="roundRect">
            <a:avLst>
              <a:gd name="adj" fmla="val 2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5394959"/>
            <a:ext cx="2752344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E7490"/>
                </a:solidFill>
                <a:latin typeface="Calibri"/>
                <a:ea typeface="Microsoft YaHei"/>
                <a:cs typeface="Microsoft YaHei"/>
              </a:rPr>
              <a:t>DPU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760720"/>
            <a:ext cx="2606039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数据处理器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016752"/>
            <a:ext cx="2606039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通信数据面卸载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230368"/>
            <a:ext cx="2752344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6120" y="5230368"/>
            <a:ext cx="2752344" cy="91440"/>
          </a:xfrm>
          <a:prstGeom prst="roundRect">
            <a:avLst>
              <a:gd name="adj" fmla="val 2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394959"/>
            <a:ext cx="2752344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4338CA"/>
                </a:solidFill>
                <a:latin typeface="Calibri"/>
                <a:ea typeface="Microsoft YaHei"/>
                <a:cs typeface="Microsoft YaHei"/>
              </a:rPr>
              <a:t>AICPU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9272" y="5760720"/>
            <a:ext cx="2606039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AI CPU 引擎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9272" y="6016752"/>
            <a:ext cx="2606039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Kernel 展开 · TS 调度 · 大带宽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5230368"/>
            <a:ext cx="2752344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99632" y="5230368"/>
            <a:ext cx="2752344" cy="91440"/>
          </a:xfrm>
          <a:prstGeom prst="roundRect">
            <a:avLst>
              <a:gd name="adj" fmla="val 2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5394959"/>
            <a:ext cx="2752344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47857"/>
                </a:solidFill>
                <a:latin typeface="Calibri"/>
                <a:ea typeface="Microsoft YaHei"/>
                <a:cs typeface="Microsoft YaHei"/>
              </a:rPr>
              <a:t>AIV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760720"/>
            <a:ext cx="2606039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Vector Core 直驱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6016752"/>
            <a:ext cx="2606039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小数据 · 低时延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53144" y="5230368"/>
            <a:ext cx="2752344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53144" y="5230368"/>
            <a:ext cx="2752344" cy="91440"/>
          </a:xfrm>
          <a:prstGeom prst="roundRect">
            <a:avLst>
              <a:gd name="adj" fmla="val 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144" y="5394959"/>
            <a:ext cx="2752344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B45309"/>
                </a:solidFill>
                <a:latin typeface="Calibri"/>
                <a:ea typeface="Microsoft YaHei"/>
                <a:cs typeface="Microsoft YaHei"/>
              </a:rPr>
              <a:t>CCU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6296" y="5760720"/>
            <a:ext cx="2606039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2744"/>
                </a:solidFill>
                <a:latin typeface="Calibri"/>
                <a:ea typeface="Microsoft YaHei"/>
                <a:cs typeface="Microsoft YaHei"/>
              </a:rPr>
              <a:t>集合通信加速单元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6296" y="6016752"/>
            <a:ext cx="2606039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80"/>
                </a:solidFill>
                <a:latin typeface="Calibri"/>
                <a:ea typeface="Microsoft YaHei"/>
                <a:cs typeface="Microsoft YaHei"/>
              </a:rPr>
              <a:t>Mission · 微码硬化执行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" y="6656832"/>
            <a:ext cx="1161288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asc-devkit ⊃ asc-comm  →  MC² / Ain 编程  →  HCOMM 统一接口  →  DPU · AICPU · AIV · CCU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